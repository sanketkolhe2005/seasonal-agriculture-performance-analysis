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jfif" ContentType="image/j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169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9/2/2026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9/2/2026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9/2/2026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f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2.png"/><Relationship Id="rId3" Type="http://schemas.openxmlformats.org/officeDocument/2006/relationships/image" Target="../media/image1.jf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1.png"/><Relationship Id="rId4" Type="http://schemas.openxmlformats.org/officeDocument/2006/relationships/hyperlink" Target="https://github.com/SanketKolhe2005/Seasonal-Agriculture-Performance-Analysi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2.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jf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3400089" cy="861497"/>
          </a:xfrm>
        </p:spPr>
        <p:txBody>
          <a:bodyPr vert="horz" lIns="91440" tIns="45720" rIns="91440" bIns="45720" rtlCol="0" anchor="t" wrap="square">
            <a:normAutofit/>
          </a:bodyPr>
          <a:lstStyle/>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wrap="square">
            <a:normAutofit/>
          </a:bodyPr>
          <a:lstStyle/>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wrap="square">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176362" cy="646331"/>
          </a:xfrm>
          <a:prstGeom prst="rect">
            <a:avLst/>
          </a:prstGeom>
          <a:noFill/>
        </p:spPr>
        <p:txBody>
          <a:bodyPr wrap="square" rtlCol="0">
            <a:spAutoFit/>
          </a:bodyPr>
          <a:lstStyle/>
          <a:p/>
        </p:txBody>
      </p:sp>
      <p:sp>
        <p:nvSpPr>
          <p:cNvPr id="38" name="TextBox 37"/>
          <p:cNvSpPr txBox="1"/>
          <p:nvPr/>
        </p:nvSpPr>
        <p:spPr>
          <a:xfrm>
            <a:off x="914400" y="960120"/>
            <a:ext cx="10360152" cy="731520"/>
          </a:xfrm>
          <a:prstGeom prst="rect">
            <a:avLst/>
          </a:prstGeom>
          <a:noFill/>
        </p:spPr>
        <p:txBody>
          <a:bodyPr wrap="square">
            <a:spAutoFit/>
          </a:bodyPr>
          <a:lstStyle/>
          <a:p>
            <a:pPr algn="ctr"/>
            <a:r>
              <a:rPr sz="2800" b="1">
                <a:latin typeface="Aptos"/>
              </a:rPr>
              <a:t>SEASONAL AGRICULTURE PERFORMANCE ANALYSIS</a:t>
            </a:r>
          </a:p>
        </p:txBody>
      </p:sp>
      <p:sp>
        <p:nvSpPr>
          <p:cNvPr id="39" name="TextBox 38"/>
          <p:cNvSpPr txBox="1"/>
          <p:nvPr/>
        </p:nvSpPr>
        <p:spPr>
          <a:xfrm>
            <a:off x="1828800" y="1783080"/>
            <a:ext cx="8531352" cy="411480"/>
          </a:xfrm>
          <a:prstGeom prst="rect">
            <a:avLst/>
          </a:prstGeom>
          <a:noFill/>
        </p:spPr>
        <p:txBody>
          <a:bodyPr wrap="square">
            <a:spAutoFit/>
          </a:bodyPr>
          <a:lstStyle/>
          <a:p>
            <a:pPr algn="ctr"/>
            <a:r>
              <a:rPr sz="1700" b="1">
                <a:latin typeface="Aptos"/>
              </a:rPr>
              <a:t>Major Project – VOIS × AICTE</a:t>
            </a:r>
          </a:p>
        </p:txBody>
      </p:sp>
      <p:sp>
        <p:nvSpPr>
          <p:cNvPr id="40" name="TextBox 39"/>
          <p:cNvSpPr txBox="1"/>
          <p:nvPr/>
        </p:nvSpPr>
        <p:spPr>
          <a:xfrm>
            <a:off x="1828800" y="2423160"/>
            <a:ext cx="8531352" cy="384048"/>
          </a:xfrm>
          <a:prstGeom prst="rect">
            <a:avLst/>
          </a:prstGeom>
          <a:noFill/>
        </p:spPr>
        <p:txBody>
          <a:bodyPr wrap="square">
            <a:spAutoFit/>
          </a:bodyPr>
          <a:lstStyle/>
          <a:p>
            <a:pPr algn="ctr"/>
            <a:r>
              <a:rPr sz="1200" b="1">
                <a:latin typeface="Aptos"/>
              </a:rPr>
              <a:t>Submitted By</a:t>
            </a:r>
          </a:p>
        </p:txBody>
      </p:sp>
      <p:sp>
        <p:nvSpPr>
          <p:cNvPr id="41" name="TextBox 40"/>
          <p:cNvSpPr txBox="1"/>
          <p:nvPr/>
        </p:nvSpPr>
        <p:spPr>
          <a:xfrm>
            <a:off x="1828800" y="2788920"/>
            <a:ext cx="8531352" cy="502920"/>
          </a:xfrm>
          <a:prstGeom prst="rect">
            <a:avLst/>
          </a:prstGeom>
          <a:noFill/>
        </p:spPr>
        <p:txBody>
          <a:bodyPr wrap="square">
            <a:spAutoFit/>
          </a:bodyPr>
          <a:lstStyle/>
          <a:p>
            <a:pPr algn="ctr"/>
            <a:r>
              <a:rPr sz="2000" b="1">
                <a:latin typeface="Aptos"/>
              </a:rPr>
              <a:t>Sanket Digambar Kolhe</a:t>
            </a:r>
          </a:p>
        </p:txBody>
      </p:sp>
      <p:sp>
        <p:nvSpPr>
          <p:cNvPr id="42" name="TextBox 41"/>
          <p:cNvSpPr txBox="1"/>
          <p:nvPr/>
        </p:nvSpPr>
        <p:spPr>
          <a:xfrm>
            <a:off x="1828800" y="3429000"/>
            <a:ext cx="8531352" cy="384048"/>
          </a:xfrm>
          <a:prstGeom prst="rect">
            <a:avLst/>
          </a:prstGeom>
          <a:noFill/>
        </p:spPr>
        <p:txBody>
          <a:bodyPr wrap="square">
            <a:spAutoFit/>
          </a:bodyPr>
          <a:lstStyle/>
          <a:p>
            <a:pPr algn="ctr"/>
            <a:r>
              <a:rPr sz="1200" b="1">
                <a:latin typeface="Aptos"/>
              </a:rPr>
              <a:t>College</a:t>
            </a:r>
          </a:p>
        </p:txBody>
      </p:sp>
      <p:sp>
        <p:nvSpPr>
          <p:cNvPr id="43" name="TextBox 42"/>
          <p:cNvSpPr txBox="1"/>
          <p:nvPr/>
        </p:nvSpPr>
        <p:spPr>
          <a:xfrm>
            <a:off x="1828800" y="3794760"/>
            <a:ext cx="8531352" cy="502920"/>
          </a:xfrm>
          <a:prstGeom prst="rect">
            <a:avLst/>
          </a:prstGeom>
          <a:noFill/>
        </p:spPr>
        <p:txBody>
          <a:bodyPr wrap="square">
            <a:spAutoFit/>
          </a:bodyPr>
          <a:lstStyle/>
          <a:p>
            <a:pPr algn="ctr"/>
            <a:r>
              <a:rPr sz="1800" b="1">
                <a:latin typeface="Aptos"/>
              </a:rPr>
              <a:t>MIT Academy of Engineering</a:t>
            </a:r>
          </a:p>
        </p:txBody>
      </p:sp>
      <p:sp>
        <p:nvSpPr>
          <p:cNvPr id="44" name="TextBox 43"/>
          <p:cNvSpPr txBox="1"/>
          <p:nvPr/>
        </p:nvSpPr>
        <p:spPr>
          <a:xfrm>
            <a:off x="1828800" y="4434840"/>
            <a:ext cx="8531352" cy="384048"/>
          </a:xfrm>
          <a:prstGeom prst="rect">
            <a:avLst/>
          </a:prstGeom>
          <a:noFill/>
        </p:spPr>
        <p:txBody>
          <a:bodyPr wrap="square">
            <a:spAutoFit/>
          </a:bodyPr>
          <a:lstStyle/>
          <a:p>
            <a:pPr algn="ctr"/>
            <a:r>
              <a:rPr sz="1200" b="1">
                <a:latin typeface="Aptos"/>
              </a:rPr>
              <a:t>AICTE STU ID</a:t>
            </a:r>
          </a:p>
        </p:txBody>
      </p:sp>
      <p:sp>
        <p:nvSpPr>
          <p:cNvPr id="45" name="TextBox 44"/>
          <p:cNvSpPr txBox="1"/>
          <p:nvPr/>
        </p:nvSpPr>
        <p:spPr>
          <a:xfrm>
            <a:off x="1280160" y="4800600"/>
            <a:ext cx="9628632" cy="502920"/>
          </a:xfrm>
          <a:prstGeom prst="rect">
            <a:avLst/>
          </a:prstGeom>
          <a:noFill/>
        </p:spPr>
        <p:txBody>
          <a:bodyPr wrap="square">
            <a:spAutoFit/>
          </a:bodyPr>
          <a:lstStyle/>
          <a:p>
            <a:pPr algn="ctr"/>
            <a:r>
              <a:rPr sz="1600" b="1">
                <a:latin typeface="Aptos"/>
              </a:rPr>
              <a:t>STU663d064790ec21715275335</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wrap="square">
            <a:normAutofit fontScale="90000"/>
          </a:bodyPr>
          <a:lstStyle/>
          <a:p>
            <a:pPr>
              <a:spcAft>
                <a:spcPts val="500"/>
              </a:spcAft>
            </a:pPr>
            <a:r>
              <a:rPr lang="en-US" dirty="0" sz="220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17" name="TextBox 16"/>
          <p:cNvSpPr txBox="1"/>
          <p:nvPr/>
        </p:nvSpPr>
        <p:spPr>
          <a:xfrm>
            <a:off x="914400" y="1828800"/>
            <a:ext cx="10241280" cy="4206240"/>
          </a:xfrm>
          <a:prstGeom prst="rect">
            <a:avLst/>
          </a:prstGeom>
          <a:noFill/>
        </p:spPr>
        <p:txBody>
          <a:bodyPr wrap="square">
            <a:spAutoFit/>
          </a:bodyPr>
          <a:lstStyle/>
          <a:p>
            <a:pPr>
              <a:spcAft>
                <a:spcPts val="500"/>
              </a:spcAft>
              <a:defRPr sz="1900"/>
            </a:pPr>
            <a:r>
              <a:rPr sz="2200"/>
              <a:t>Agricultural performance is influenced by seasonal variations in environmental conditions, farming practices, resource availability and market conditions.</a:t>
            </a:r>
          </a:p>
          <a:p>
            <a:pPr>
              <a:spcAft>
                <a:spcPts val="500"/>
              </a:spcAft>
              <a:defRPr sz="1900"/>
            </a:pPr>
            <a:r>
              <a:rPr sz="2200"/>
              <a:t>Raw agricultural data does not clearly explain how agricultural performance changes from one season to another.</a:t>
            </a:r>
          </a:p>
          <a:p>
            <a:pPr>
              <a:spcAft>
                <a:spcPts val="500"/>
              </a:spcAft>
              <a:defRPr sz="1900"/>
            </a:pPr>
            <a:r>
              <a:rPr sz="2200"/>
              <a:t>This project analyzes the provided agricultural dataset to identify meaningful seasonal patterns, trends, relationships and variations.</a:t>
            </a:r>
          </a:p>
          <a:p>
            <a:pPr>
              <a:spcAft>
                <a:spcPts val="500"/>
              </a:spcAft>
              <a:defRPr sz="1900"/>
            </a:pPr>
            <a:r>
              <a:rPr sz="2200"/>
              <a:t>The analysis supports evidence-based understanding and better seasonal agricultural planning.</a:t>
            </a:r>
          </a:p>
        </p:txBody>
      </p:sp>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Box 9"/>
          <p:cNvSpPr txBox="1"/>
          <p:nvPr/>
        </p:nvSpPr>
        <p:spPr>
          <a:xfrm>
            <a:off x="914400" y="1828800"/>
            <a:ext cx="10241280" cy="4114800"/>
          </a:xfrm>
          <a:prstGeom prst="rect">
            <a:avLst/>
          </a:prstGeom>
          <a:noFill/>
        </p:spPr>
        <p:txBody>
          <a:bodyPr wrap="square">
            <a:spAutoFit/>
          </a:bodyPr>
          <a:lstStyle/>
          <a:p>
            <a:pPr algn="l">
              <a:spcAft>
                <a:spcPts val="500"/>
              </a:spcAft>
            </a:pPr>
            <a:r>
              <a:rPr sz="1800" b="0"/>
              <a:t>Seasonal Agriculture Performance Analysis examines 4,000 agricultural records across Kharif, Rabi and Zaid seasons. The project covers data exploration, data cleaning, descriptive analysis, seasonal comparisons, visualization and relationship analysis. Yield, production, profit, rainfall, water efficiency and disease/pest risk are studied to identify meaningful seasonal differences and trends.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wrap="square">
            <a:normAutofit/>
          </a:bodyPr>
          <a:lstStyle/>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wrap="square">
            <a:normAutofit/>
          </a:bodyPr>
          <a:lstStyle/>
          <a:p>
            <a:pPr>
              <a:spcAft>
                <a:spcPts val="500"/>
              </a:spcAft>
            </a:pPr>
            <a:r>
              <a:rPr lang="en-US" sz="2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7" name="TextBox 16"/>
          <p:cNvSpPr txBox="1"/>
          <p:nvPr/>
        </p:nvSpPr>
        <p:spPr>
          <a:xfrm>
            <a:off x="1097280" y="1828800"/>
            <a:ext cx="9875520" cy="4206240"/>
          </a:xfrm>
          <a:prstGeom prst="rect">
            <a:avLst/>
          </a:prstGeom>
          <a:noFill/>
        </p:spPr>
        <p:txBody>
          <a:bodyPr wrap="square">
            <a:spAutoFit/>
          </a:bodyPr>
          <a:lstStyle/>
          <a:p>
            <a:pPr>
              <a:spcAft>
                <a:spcPts val="500"/>
              </a:spcAft>
              <a:defRPr sz="2000"/>
            </a:pPr>
            <a:r>
              <a:rPr sz="2200"/>
              <a:t>Farmers and agricultural planners</a:t>
            </a:r>
          </a:p>
          <a:p>
            <a:pPr>
              <a:spcAft>
                <a:spcPts val="500"/>
              </a:spcAft>
              <a:defRPr sz="2000"/>
            </a:pPr>
            <a:r>
              <a:rPr sz="2200"/>
              <a:t>Agricultural stakeholders and decision-makers</a:t>
            </a:r>
          </a:p>
          <a:p>
            <a:pPr>
              <a:spcAft>
                <a:spcPts val="500"/>
              </a:spcAft>
              <a:defRPr sz="2000"/>
            </a:pPr>
            <a:r>
              <a:rPr sz="2200"/>
              <a:t>Data analysts and researchers</a:t>
            </a:r>
          </a:p>
          <a:p>
            <a:pPr>
              <a:spcAft>
                <a:spcPts val="500"/>
              </a:spcAft>
              <a:defRPr sz="2000"/>
            </a:pPr>
            <a:r>
              <a:rPr sz="2200"/>
              <a:t>Students working with agricultural data</a:t>
            </a:r>
          </a:p>
          <a:p>
            <a:pPr>
              <a:spcAft>
                <a:spcPts val="500"/>
              </a:spcAft>
              <a:defRPr sz="2000"/>
            </a:pPr>
            <a:r>
              <a:rPr sz="2200"/>
              <a:t>Users interested in evidence-based seasonal agricultural planning</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wrap="square"/>
          <a:lstStyle/>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wrap="square">
            <a:normAutofit/>
          </a:bodyPr>
          <a:lstStyle/>
          <a:p>
            <a:pPr>
              <a:spcAft>
                <a:spcPts val="500"/>
              </a:spcAft>
            </a:pPr>
            <a:r>
              <a:rPr lang="en-US" dirty="0" sz="2200"/>
              <a:t>Technology Used</a:t>
            </a:r>
          </a:p>
        </p:txBody>
      </p:sp>
      <p:sp>
        <p:nvSpPr>
          <p:cNvPr id="17" name="TextBox 16"/>
          <p:cNvSpPr txBox="1"/>
          <p:nvPr/>
        </p:nvSpPr>
        <p:spPr>
          <a:xfrm>
            <a:off x="1097280" y="1828800"/>
            <a:ext cx="9875520" cy="4389120"/>
          </a:xfrm>
          <a:prstGeom prst="rect">
            <a:avLst/>
          </a:prstGeom>
          <a:noFill/>
        </p:spPr>
        <p:txBody>
          <a:bodyPr wrap="square">
            <a:spAutoFit/>
          </a:bodyPr>
          <a:lstStyle/>
          <a:p>
            <a:pPr>
              <a:spcAft>
                <a:spcPts val="500"/>
              </a:spcAft>
              <a:defRPr sz="2000"/>
            </a:pPr>
            <a:r>
              <a:rPr sz="2200"/>
              <a:t>Python</a:t>
            </a:r>
          </a:p>
          <a:p>
            <a:pPr>
              <a:spcAft>
                <a:spcPts val="500"/>
              </a:spcAft>
              <a:defRPr sz="2000"/>
            </a:pPr>
            <a:r>
              <a:rPr sz="2200"/>
              <a:t>Pandas — data cleaning, transformation and aggregation</a:t>
            </a:r>
          </a:p>
          <a:p>
            <a:pPr>
              <a:spcAft>
                <a:spcPts val="500"/>
              </a:spcAft>
              <a:defRPr sz="2000"/>
            </a:pPr>
            <a:r>
              <a:rPr sz="2200"/>
              <a:t>NumPy — numerical analysis</a:t>
            </a:r>
          </a:p>
          <a:p>
            <a:pPr>
              <a:spcAft>
                <a:spcPts val="500"/>
              </a:spcAft>
              <a:defRPr sz="2000"/>
            </a:pPr>
            <a:r>
              <a:rPr sz="2200"/>
              <a:t>Matplotlib — data visualization</a:t>
            </a:r>
          </a:p>
          <a:p>
            <a:pPr>
              <a:spcAft>
                <a:spcPts val="500"/>
              </a:spcAft>
              <a:defRPr sz="2000"/>
            </a:pPr>
            <a:r>
              <a:rPr sz="2200"/>
              <a:t>Google Colab / Jupyter Notebook — analysis and documentation</a:t>
            </a:r>
          </a:p>
          <a:p>
            <a:pPr>
              <a:spcAft>
                <a:spcPts val="500"/>
              </a:spcAft>
              <a:defRPr sz="2000"/>
            </a:pPr>
            <a:r>
              <a:rPr sz="2200"/>
              <a:t>CSV — source dataset</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wrap="square">
            <a:normAutofit/>
          </a:bodyPr>
          <a:lstStyle/>
          <a:p>
            <a:pPr>
              <a:spcAft>
                <a:spcPts val="500"/>
              </a:spcAft>
            </a:pPr>
            <a:r>
              <a:rPr lang="en-GB" dirty="0" sz="200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wrap="square">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wrap="square">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1" name="TextBox 30"/>
          <p:cNvSpPr txBox="1"/>
          <p:nvPr/>
        </p:nvSpPr>
        <p:spPr>
          <a:xfrm>
            <a:off x="731520" y="1234440"/>
            <a:ext cx="7772400" cy="502920"/>
          </a:xfrm>
          <a:prstGeom prst="rect">
            <a:avLst/>
          </a:prstGeom>
          <a:noFill/>
        </p:spPr>
        <p:txBody>
          <a:bodyPr wrap="square">
            <a:spAutoFit/>
          </a:bodyPr>
          <a:lstStyle/>
          <a:p>
            <a:pPr algn="l">
              <a:spcAft>
                <a:spcPts val="500"/>
              </a:spcAft>
            </a:pPr>
            <a:r>
              <a:rPr sz="1700" b="1"/>
              <a:t>RESULT 1 — Average Yield by Season</a:t>
            </a:r>
          </a:p>
        </p:txBody>
      </p:sp>
      <p:pic>
        <p:nvPicPr>
          <p:cNvPr id="32" name="Picture 31" descr="01_Average_Yield_by_Season.png"/>
          <p:cNvPicPr>
            <a:picLocks noChangeAspect="1"/>
          </p:cNvPicPr>
          <p:nvPr/>
        </p:nvPicPr>
        <p:blipFill>
          <a:blip r:embed="rId3"/>
          <a:stretch>
            <a:fillRect/>
          </a:stretch>
        </p:blipFill>
        <p:spPr>
          <a:xfrm>
            <a:off x="731520" y="1783080"/>
            <a:ext cx="7635240" cy="4315105"/>
          </a:xfrm>
          <a:prstGeom prst="rect">
            <a:avLst/>
          </a:prstGeom>
        </p:spPr>
      </p:pic>
      <p:sp>
        <p:nvSpPr>
          <p:cNvPr id="33" name="TextBox 32"/>
          <p:cNvSpPr txBox="1"/>
          <p:nvPr/>
        </p:nvSpPr>
        <p:spPr>
          <a:xfrm>
            <a:off x="8549640" y="1828800"/>
            <a:ext cx="2743200" cy="3474720"/>
          </a:xfrm>
          <a:prstGeom prst="rect">
            <a:avLst/>
          </a:prstGeom>
          <a:noFill/>
        </p:spPr>
        <p:txBody>
          <a:bodyPr wrap="square">
            <a:spAutoFit/>
          </a:bodyPr>
          <a:lstStyle/>
          <a:p>
            <a:pPr algn="l">
              <a:spcAft>
                <a:spcPts val="500"/>
              </a:spcAft>
            </a:pPr>
            <a:r>
              <a:rPr sz="1500" b="0"/>
              <a:t>Kharif records the highest average yield at 5.64 tonnes/hectare.</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wrap="square">
            <a:normAutofit/>
          </a:bodyPr>
          <a:lstStyle/>
          <a:p>
            <a:pPr>
              <a:spcAft>
                <a:spcPts val="500"/>
              </a:spcAft>
            </a:pPr>
            <a:r>
              <a:rPr lang="en-GB" dirty="0" sz="200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wrap="square">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wrap="square">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1" name="TextBox 30"/>
          <p:cNvSpPr txBox="1"/>
          <p:nvPr/>
        </p:nvSpPr>
        <p:spPr>
          <a:xfrm>
            <a:off x="731520" y="1234440"/>
            <a:ext cx="7772400" cy="502920"/>
          </a:xfrm>
          <a:prstGeom prst="rect">
            <a:avLst/>
          </a:prstGeom>
          <a:noFill/>
        </p:spPr>
        <p:txBody>
          <a:bodyPr wrap="square">
            <a:spAutoFit/>
          </a:bodyPr>
          <a:lstStyle/>
          <a:p>
            <a:pPr algn="l">
              <a:spcAft>
                <a:spcPts val="500"/>
              </a:spcAft>
            </a:pPr>
            <a:r>
              <a:rPr sz="1700" b="1"/>
              <a:t>RESULT 2 — Average Production by Season</a:t>
            </a:r>
          </a:p>
        </p:txBody>
      </p:sp>
      <p:pic>
        <p:nvPicPr>
          <p:cNvPr id="32" name="Picture 31" descr="02_Average_Production_by_Season.png"/>
          <p:cNvPicPr>
            <a:picLocks noChangeAspect="1"/>
          </p:cNvPicPr>
          <p:nvPr/>
        </p:nvPicPr>
        <p:blipFill>
          <a:blip r:embed="rId3"/>
          <a:stretch>
            <a:fillRect/>
          </a:stretch>
        </p:blipFill>
        <p:spPr>
          <a:xfrm>
            <a:off x="731520" y="1783080"/>
            <a:ext cx="7635240" cy="4315105"/>
          </a:xfrm>
          <a:prstGeom prst="rect">
            <a:avLst/>
          </a:prstGeom>
        </p:spPr>
      </p:pic>
      <p:sp>
        <p:nvSpPr>
          <p:cNvPr id="33" name="TextBox 32"/>
          <p:cNvSpPr txBox="1"/>
          <p:nvPr/>
        </p:nvSpPr>
        <p:spPr>
          <a:xfrm>
            <a:off x="8549640" y="1828800"/>
            <a:ext cx="2743200" cy="3474720"/>
          </a:xfrm>
          <a:prstGeom prst="rect">
            <a:avLst/>
          </a:prstGeom>
          <a:noFill/>
        </p:spPr>
        <p:txBody>
          <a:bodyPr wrap="square">
            <a:spAutoFit/>
          </a:bodyPr>
          <a:lstStyle/>
          <a:p>
            <a:pPr algn="l">
              <a:spcAft>
                <a:spcPts val="500"/>
              </a:spcAft>
            </a:pPr>
            <a:r>
              <a:rPr sz="1500" b="0"/>
              <a:t>Kharif has the highest average production at 46.31 tonnes.</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wrap="square">
            <a:normAutofit/>
          </a:bodyPr>
          <a:lstStyle/>
          <a:p>
            <a:pPr>
              <a:spcAft>
                <a:spcPts val="500"/>
              </a:spcAft>
            </a:pPr>
            <a:r>
              <a:rPr lang="en-GB" dirty="0" sz="200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wrap="square">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wrap="square">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1" name="TextBox 30"/>
          <p:cNvSpPr txBox="1"/>
          <p:nvPr/>
        </p:nvSpPr>
        <p:spPr>
          <a:xfrm>
            <a:off x="731520" y="1234440"/>
            <a:ext cx="7772400" cy="502920"/>
          </a:xfrm>
          <a:prstGeom prst="rect">
            <a:avLst/>
          </a:prstGeom>
          <a:noFill/>
        </p:spPr>
        <p:txBody>
          <a:bodyPr wrap="square">
            <a:spAutoFit/>
          </a:bodyPr>
          <a:lstStyle/>
          <a:p>
            <a:pPr algn="l">
              <a:spcAft>
                <a:spcPts val="500"/>
              </a:spcAft>
            </a:pPr>
            <a:r>
              <a:rPr sz="1700" b="1"/>
              <a:t>RESULT 3 — Average Profit by Season</a:t>
            </a:r>
          </a:p>
        </p:txBody>
      </p:sp>
      <p:pic>
        <p:nvPicPr>
          <p:cNvPr id="32" name="Picture 31" descr="03_Average_Profit_by_Season.png"/>
          <p:cNvPicPr>
            <a:picLocks noChangeAspect="1"/>
          </p:cNvPicPr>
          <p:nvPr/>
        </p:nvPicPr>
        <p:blipFill>
          <a:blip r:embed="rId3"/>
          <a:stretch>
            <a:fillRect/>
          </a:stretch>
        </p:blipFill>
        <p:spPr>
          <a:xfrm>
            <a:off x="731520" y="1783080"/>
            <a:ext cx="7635240" cy="4313091"/>
          </a:xfrm>
          <a:prstGeom prst="rect">
            <a:avLst/>
          </a:prstGeom>
        </p:spPr>
      </p:pic>
      <p:sp>
        <p:nvSpPr>
          <p:cNvPr id="33" name="TextBox 32"/>
          <p:cNvSpPr txBox="1"/>
          <p:nvPr/>
        </p:nvSpPr>
        <p:spPr>
          <a:xfrm>
            <a:off x="8549640" y="1828800"/>
            <a:ext cx="2743200" cy="3474720"/>
          </a:xfrm>
          <a:prstGeom prst="rect">
            <a:avLst/>
          </a:prstGeom>
          <a:noFill/>
        </p:spPr>
        <p:txBody>
          <a:bodyPr wrap="square">
            <a:spAutoFit/>
          </a:bodyPr>
          <a:lstStyle/>
          <a:p>
            <a:pPr algn="l">
              <a:spcAft>
                <a:spcPts val="500"/>
              </a:spcAft>
            </a:pPr>
            <a:r>
              <a:rPr sz="1500" b="0"/>
              <a:t>Kharif has the highest average profit at ₹178,915.</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wrap="square">
            <a:normAutofit/>
          </a:bodyPr>
          <a:lstStyle/>
          <a:p>
            <a:pPr>
              <a:spcAft>
                <a:spcPts val="500"/>
              </a:spcAft>
            </a:pPr>
            <a:r>
              <a:rPr lang="en-GB" dirty="0" sz="200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wrap="square">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wrap="square">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1" name="TextBox 30"/>
          <p:cNvSpPr txBox="1"/>
          <p:nvPr/>
        </p:nvSpPr>
        <p:spPr>
          <a:xfrm>
            <a:off x="731520" y="1234440"/>
            <a:ext cx="7772400" cy="502920"/>
          </a:xfrm>
          <a:prstGeom prst="rect">
            <a:avLst/>
          </a:prstGeom>
          <a:noFill/>
        </p:spPr>
        <p:txBody>
          <a:bodyPr wrap="square">
            <a:spAutoFit/>
          </a:bodyPr>
          <a:lstStyle/>
          <a:p>
            <a:pPr algn="l">
              <a:spcAft>
                <a:spcPts val="500"/>
              </a:spcAft>
            </a:pPr>
            <a:r>
              <a:rPr sz="1700" b="1"/>
              <a:t>RESULT 4 — Water Efficiency by Season</a:t>
            </a:r>
          </a:p>
        </p:txBody>
      </p:sp>
      <p:pic>
        <p:nvPicPr>
          <p:cNvPr id="32" name="Picture 31" descr="04_Water_Efficiency_by_Season.png"/>
          <p:cNvPicPr>
            <a:picLocks noChangeAspect="1"/>
          </p:cNvPicPr>
          <p:nvPr/>
        </p:nvPicPr>
        <p:blipFill>
          <a:blip r:embed="rId3"/>
          <a:stretch>
            <a:fillRect/>
          </a:stretch>
        </p:blipFill>
        <p:spPr>
          <a:xfrm>
            <a:off x="731520" y="1783080"/>
            <a:ext cx="7635240" cy="4315105"/>
          </a:xfrm>
          <a:prstGeom prst="rect">
            <a:avLst/>
          </a:prstGeom>
        </p:spPr>
      </p:pic>
      <p:sp>
        <p:nvSpPr>
          <p:cNvPr id="33" name="TextBox 32"/>
          <p:cNvSpPr txBox="1"/>
          <p:nvPr/>
        </p:nvSpPr>
        <p:spPr>
          <a:xfrm>
            <a:off x="8549640" y="1828800"/>
            <a:ext cx="2743200" cy="3474720"/>
          </a:xfrm>
          <a:prstGeom prst="rect">
            <a:avLst/>
          </a:prstGeom>
          <a:noFill/>
        </p:spPr>
        <p:txBody>
          <a:bodyPr wrap="square">
            <a:spAutoFit/>
          </a:bodyPr>
          <a:lstStyle/>
          <a:p>
            <a:pPr algn="l">
              <a:spcAft>
                <a:spcPts val="500"/>
              </a:spcAft>
            </a:pPr>
            <a:r>
              <a:rPr sz="1500" b="0"/>
              <a:t>Average water efficiency is 5.89 for Kharif, 5.19 for Rabi and 4.41 tonnes/1000 m³ for Zaid.</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wrap="square">
            <a:normAutofit/>
          </a:bodyPr>
          <a:lstStyle/>
          <a:p>
            <a:pPr>
              <a:spcAft>
                <a:spcPts val="500"/>
              </a:spcAft>
            </a:pPr>
            <a:r>
              <a:rPr lang="en-GB" dirty="0" sz="200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wrap="square">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wrap="square">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1" name="TextBox 30"/>
          <p:cNvSpPr txBox="1"/>
          <p:nvPr/>
        </p:nvSpPr>
        <p:spPr>
          <a:xfrm>
            <a:off x="731520" y="1234440"/>
            <a:ext cx="7772400" cy="502920"/>
          </a:xfrm>
          <a:prstGeom prst="rect">
            <a:avLst/>
          </a:prstGeom>
          <a:noFill/>
        </p:spPr>
        <p:txBody>
          <a:bodyPr wrap="square">
            <a:spAutoFit/>
          </a:bodyPr>
          <a:lstStyle/>
          <a:p>
            <a:pPr algn="l">
              <a:spcAft>
                <a:spcPts val="500"/>
              </a:spcAft>
            </a:pPr>
            <a:r>
              <a:rPr sz="1700" b="1"/>
              <a:t>RESULT 5 — Disease / Pest Risk by Season</a:t>
            </a:r>
          </a:p>
        </p:txBody>
      </p:sp>
      <p:pic>
        <p:nvPicPr>
          <p:cNvPr id="32" name="Picture 31" descr="05_Disease_Pest_Risk_by_Season.png"/>
          <p:cNvPicPr>
            <a:picLocks noChangeAspect="1"/>
          </p:cNvPicPr>
          <p:nvPr/>
        </p:nvPicPr>
        <p:blipFill>
          <a:blip r:embed="rId3"/>
          <a:stretch>
            <a:fillRect/>
          </a:stretch>
        </p:blipFill>
        <p:spPr>
          <a:xfrm>
            <a:off x="731520" y="1783080"/>
            <a:ext cx="7635240" cy="4315105"/>
          </a:xfrm>
          <a:prstGeom prst="rect">
            <a:avLst/>
          </a:prstGeom>
        </p:spPr>
      </p:pic>
      <p:sp>
        <p:nvSpPr>
          <p:cNvPr id="33" name="TextBox 32"/>
          <p:cNvSpPr txBox="1"/>
          <p:nvPr/>
        </p:nvSpPr>
        <p:spPr>
          <a:xfrm>
            <a:off x="8549640" y="1828800"/>
            <a:ext cx="2743200" cy="3474720"/>
          </a:xfrm>
          <a:prstGeom prst="rect">
            <a:avLst/>
          </a:prstGeom>
          <a:noFill/>
        </p:spPr>
        <p:txBody>
          <a:bodyPr wrap="square">
            <a:spAutoFit/>
          </a:bodyPr>
          <a:lstStyle/>
          <a:p>
            <a:pPr algn="l">
              <a:spcAft>
                <a:spcPts val="500"/>
              </a:spcAft>
            </a:pPr>
            <a:r>
              <a:rPr sz="1500" b="0"/>
              <a:t>Kharif shows the highest average disease/pest risk at 54.47%, compared with Rabi and Zaid.</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wrap="square">
            <a:normAutofit/>
          </a:bodyPr>
          <a:lstStyle/>
          <a:p>
            <a:pPr>
              <a:spcAft>
                <a:spcPts val="500"/>
              </a:spcAft>
            </a:pPr>
            <a:r>
              <a:rPr lang="en-IN" sz="22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wrap="square">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wrap="square">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914400" y="1828800"/>
            <a:ext cx="10241280" cy="4389120"/>
          </a:xfrm>
          <a:prstGeom prst="rect">
            <a:avLst/>
          </a:prstGeom>
          <a:noFill/>
        </p:spPr>
        <p:txBody>
          <a:bodyPr wrap="square">
            <a:spAutoFit/>
          </a:bodyPr>
          <a:lstStyle/>
          <a:p>
            <a:pPr>
              <a:spcAft>
                <a:spcPts val="500"/>
              </a:spcAft>
              <a:defRPr sz="2000"/>
            </a:pPr>
            <a:r>
              <a:rPr sz="2200"/>
              <a:t>Extend the analysis using larger and more recent agricultural datasets.</a:t>
            </a:r>
          </a:p>
          <a:p>
            <a:pPr>
              <a:spcAft>
                <a:spcPts val="500"/>
              </a:spcAft>
              <a:defRPr sz="2000"/>
            </a:pPr>
            <a:r>
              <a:rPr sz="2200"/>
              <a:t>Develop interactive dashboards for seasonal agricultural monitoring.</a:t>
            </a:r>
          </a:p>
          <a:p>
            <a:pPr>
              <a:spcAft>
                <a:spcPts val="500"/>
              </a:spcAft>
              <a:defRPr sz="2000"/>
            </a:pPr>
            <a:r>
              <a:rPr sz="2200"/>
              <a:t>Integrate weather and market-price data for deeper analysis.</a:t>
            </a:r>
          </a:p>
          <a:p>
            <a:pPr>
              <a:spcAft>
                <a:spcPts val="500"/>
              </a:spcAft>
              <a:defRPr sz="2000"/>
            </a:pPr>
            <a:r>
              <a:rPr sz="2200"/>
              <a:t>Apply predictive analytics for yield and economic outcome forecasting.</a:t>
            </a:r>
          </a:p>
          <a:p>
            <a:pPr>
              <a:spcAft>
                <a:spcPts val="500"/>
              </a:spcAft>
              <a:defRPr sz="2000"/>
            </a:pPr>
            <a:r>
              <a:rPr sz="2200"/>
              <a:t>Perform more detailed crop-, district- and state-level seasonal analysis.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sp>
        <p:nvSpPr>
          <p:cNvPr id="24" name="TextBox 23"/>
          <p:cNvSpPr txBox="1"/>
          <p:nvPr/>
        </p:nvSpPr>
        <p:spPr>
          <a:xfrm>
            <a:off x="685800" y="292608"/>
            <a:ext cx="5943600" cy="594360"/>
          </a:xfrm>
          <a:prstGeom prst="rect">
            <a:avLst/>
          </a:prstGeom>
          <a:noFill/>
        </p:spPr>
        <p:txBody>
          <a:bodyPr wrap="none">
            <a:spAutoFit/>
          </a:bodyPr>
          <a:lstStyle/>
          <a:p>
            <a:r>
              <a:rPr sz="2800" b="1">
                <a:solidFill>
                  <a:srgbClr val="000000"/>
                </a:solidFill>
                <a:latin typeface="Arial"/>
              </a:rPr>
              <a:t>GitHub Repository</a:t>
            </a:r>
          </a:p>
        </p:txBody>
      </p:sp>
      <p:sp>
        <p:nvSpPr>
          <p:cNvPr id="25" name="TextBox 24"/>
          <p:cNvSpPr txBox="1"/>
          <p:nvPr/>
        </p:nvSpPr>
        <p:spPr>
          <a:xfrm>
            <a:off x="868680" y="1664208"/>
            <a:ext cx="9509760" cy="640080"/>
          </a:xfrm>
          <a:prstGeom prst="rect">
            <a:avLst/>
          </a:prstGeom>
          <a:noFill/>
        </p:spPr>
        <p:txBody>
          <a:bodyPr wrap="none">
            <a:spAutoFit/>
          </a:bodyPr>
          <a:lstStyle/>
          <a:p>
            <a:pPr algn="l"/>
            <a:r>
              <a:rPr sz="2000" u="sng">
                <a:solidFill>
                  <a:srgbClr val="005096"/>
                </a:solidFill>
                <a:latin typeface="Arial"/>
                <a:hlinkClick r:id="rId4"/>
              </a:rPr>
              <a:t>https://github.com/SanketKolhe2005/Seasonal-Agriculture-Performance-Analysis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wrap="square">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wrap="square">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685800" y="256032"/>
            <a:ext cx="10058400" cy="502920"/>
          </a:xfrm>
          <a:prstGeom prst="rect">
            <a:avLst/>
          </a:prstGeom>
          <a:noFill/>
        </p:spPr>
        <p:txBody>
          <a:bodyPr wrap="none">
            <a:spAutoFit/>
          </a:bodyPr>
          <a:lstStyle/>
          <a:p>
            <a:r>
              <a:rPr sz="2800" b="1">
                <a:solidFill>
                  <a:srgbClr val="000000"/>
                </a:solidFill>
                <a:latin typeface="Arial"/>
              </a:rPr>
              <a:t>Certificate of Completion</a:t>
            </a:r>
          </a:p>
        </p:txBody>
      </p:sp>
      <p:pic>
        <p:nvPicPr>
          <p:cNvPr id="25" name="Picture 24" descr="certificate_fixed_render.png"/>
          <p:cNvPicPr>
            <a:picLocks noChangeAspect="1"/>
          </p:cNvPicPr>
          <p:nvPr/>
        </p:nvPicPr>
        <p:blipFill>
          <a:blip r:embed="rId4"/>
          <a:stretch>
            <a:fillRect/>
          </a:stretch>
        </p:blipFill>
        <p:spPr>
          <a:xfrm>
            <a:off x="2571696" y="960120"/>
            <a:ext cx="7048303" cy="498348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wrap="square">
            <a:normAutofit fontScale="90000"/>
          </a:bodyPr>
          <a:lstStyle/>
          <a:p>
            <a:pPr>
              <a:spcAft>
                <a:spcPts val="500"/>
              </a:spcAft>
            </a:pPr>
            <a:r>
              <a:rPr sz="2000"/>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wrap="square">
            <a:normAutofit/>
          </a:bodyPr>
          <a:lstStyle/>
          <a:p>
            <a:pPr>
              <a:spcAft>
                <a:spcPts val="500"/>
              </a:spcAft>
            </a:pPr>
            <a:r>
              <a:rPr lang="en-US" dirty="0" sz="200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wrap="square">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wrap="square">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wrap="square">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wrap="square">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wrap="square">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spcAft>
                <a:spcPts val="500"/>
              </a:spcAft>
            </a:pPr>
            <a:r>
              <a:rPr lang="en-GB" dirty="0" sz="200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wrap="square">
            <a:normAutofit fontScale="92500" lnSpcReduction="20000"/>
          </a:bodyPr>
          <a:lstStyle/>
          <a:p>
            <a:endParaRPr lang="en-IN" dirty="0"/>
          </a:p>
        </p:txBody>
      </p:sp>
      <p:sp>
        <p:nvSpPr>
          <p:cNvPr id="46" name="TextBox 45"/>
          <p:cNvSpPr txBox="1"/>
          <p:nvPr/>
        </p:nvSpPr>
        <p:spPr>
          <a:xfrm>
            <a:off x="1828800" y="3749039"/>
            <a:ext cx="8503920" cy="731520"/>
          </a:xfrm>
          <a:prstGeom prst="rect">
            <a:avLst/>
          </a:prstGeom>
          <a:noFill/>
        </p:spPr>
        <p:txBody>
          <a:bodyPr wrap="square">
            <a:spAutoFit/>
          </a:bodyPr>
          <a:lstStyle/>
          <a:p>
            <a:pPr algn="ctr">
              <a:spcAft>
                <a:spcPts val="500"/>
              </a:spcAft>
            </a:pPr>
            <a:r>
              <a:rPr sz="2200" b="1"/>
              <a:t>Seasonal Agriculture Performance Analysis</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556</TotalTime>
  <Words>71</Words>
  <Application>Microsoft Office PowerPoint</Application>
  <PresentationFormat>Widescreen</PresentationFormat>
  <Paragraphs>18</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Project Title -</vt:lpstr>
      <vt:lpstr>PROBLEM  STATEMENT</vt:lpstr>
      <vt:lpstr>Project Description [write detail description about your project ]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97</cp:revision>
  <dcterms:created xsi:type="dcterms:W3CDTF">2021-07-11T13:13:15Z</dcterms:created>
  <dcterms:modified xsi:type="dcterms:W3CDTF">2026-09-02T10:35:59Z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